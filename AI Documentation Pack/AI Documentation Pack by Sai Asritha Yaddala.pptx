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04" r:id="rId1"/>
  </p:sldMasterIdLst>
  <p:sldIdLst>
    <p:sldId id="267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6694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574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7305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267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013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357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79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868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667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338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191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4054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5" r:id="rId1"/>
    <p:sldLayoutId id="2147483906" r:id="rId2"/>
    <p:sldLayoutId id="2147483907" r:id="rId3"/>
    <p:sldLayoutId id="2147483908" r:id="rId4"/>
    <p:sldLayoutId id="2147483909" r:id="rId5"/>
    <p:sldLayoutId id="2147483910" r:id="rId6"/>
    <p:sldLayoutId id="2147483911" r:id="rId7"/>
    <p:sldLayoutId id="2147483912" r:id="rId8"/>
    <p:sldLayoutId id="2147483913" r:id="rId9"/>
    <p:sldLayoutId id="2147483914" r:id="rId10"/>
    <p:sldLayoutId id="214748391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43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83249D-587B-661C-10CB-152D1DBC6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F5E8D21-C555-3F8F-26A9-EE597C175977}"/>
              </a:ext>
            </a:extLst>
          </p:cNvPr>
          <p:cNvSpPr txBox="1"/>
          <p:nvPr/>
        </p:nvSpPr>
        <p:spPr>
          <a:xfrm>
            <a:off x="462116" y="1674674"/>
            <a:ext cx="879003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2"/>
                </a:solidFill>
                <a:latin typeface="Gill Sans Ultra Bold Condensed" panose="020B0A06020104020203" pitchFamily="34" charset="0"/>
              </a:rPr>
              <a:t>AI</a:t>
            </a:r>
            <a:r>
              <a:rPr lang="en-IN" sz="3600" b="1" dirty="0">
                <a:solidFill>
                  <a:schemeClr val="accent2"/>
                </a:solidFill>
              </a:rPr>
              <a:t> </a:t>
            </a:r>
            <a:r>
              <a:rPr lang="en-IN" sz="3600" b="1" dirty="0">
                <a:solidFill>
                  <a:schemeClr val="accent2"/>
                </a:solidFill>
                <a:latin typeface="Gill Sans Ultra Bold Condensed" panose="020B0A06020104020203" pitchFamily="34" charset="0"/>
              </a:rPr>
              <a:t>Documentation Templates &amp; Overview</a:t>
            </a:r>
          </a:p>
          <a:p>
            <a:endParaRPr lang="en-IN" sz="3600" b="1" dirty="0">
              <a:solidFill>
                <a:schemeClr val="accent2"/>
              </a:solidFill>
            </a:endParaRPr>
          </a:p>
          <a:p>
            <a:r>
              <a:rPr lang="en-IN" sz="3600" b="1" dirty="0">
                <a:solidFill>
                  <a:schemeClr val="bg1"/>
                </a:solidFill>
              </a:rPr>
              <a:t>					Sai Asritha Yaddala</a:t>
            </a:r>
          </a:p>
        </p:txBody>
      </p:sp>
    </p:spTree>
    <p:extLst>
      <p:ext uri="{BB962C8B-B14F-4D97-AF65-F5344CB8AC3E}">
        <p14:creationId xmlns:p14="http://schemas.microsoft.com/office/powerpoint/2010/main" val="20157841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4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4287392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D700"/>
                </a:solidFill>
              </a:defRPr>
            </a:pPr>
            <a:r>
              <a:rPr dirty="0">
                <a:solidFill>
                  <a:schemeClr val="accent2"/>
                </a:solidFill>
              </a:rPr>
              <a:t>Model Card Template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116401" cy="48013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200">
                <a:solidFill>
                  <a:srgbClr val="E6E6E6"/>
                </a:solidFill>
              </a:defRPr>
            </a:pPr>
            <a:r>
              <a:rPr sz="2400" dirty="0"/>
              <a:t>1. Overview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rPr sz="2400" dirty="0"/>
              <a:t>2. Purpose &amp; Intended Use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rPr sz="2400" dirty="0"/>
              <a:t>3. Model Architecture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rPr sz="2400" dirty="0"/>
              <a:t>4. Training Data Summary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rPr sz="2400" dirty="0"/>
              <a:t>5. Evaluation Metrics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rPr sz="2400" dirty="0"/>
              <a:t>6. Ethical &amp; Fairness</a:t>
            </a:r>
            <a:r>
              <a:rPr lang="en-IN" sz="2400" dirty="0"/>
              <a:t> Considerations </a:t>
            </a:r>
            <a:endParaRPr sz="2400" dirty="0"/>
          </a:p>
          <a:p>
            <a:pPr>
              <a:defRPr sz="2200">
                <a:solidFill>
                  <a:srgbClr val="E6E6E6"/>
                </a:solidFill>
              </a:defRPr>
            </a:pPr>
            <a:r>
              <a:rPr sz="2400" dirty="0"/>
              <a:t>7. Safety &amp; Security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rPr sz="2400" dirty="0"/>
              <a:t>8. MITRE ATLAS</a:t>
            </a:r>
            <a:r>
              <a:rPr lang="en-IN" sz="2400" dirty="0"/>
              <a:t> Threat Assessment</a:t>
            </a:r>
            <a:endParaRPr sz="2400" dirty="0"/>
          </a:p>
          <a:p>
            <a:pPr>
              <a:defRPr sz="2200">
                <a:solidFill>
                  <a:srgbClr val="E6E6E6"/>
                </a:solidFill>
              </a:defRPr>
            </a:pPr>
            <a:r>
              <a:rPr sz="2400" dirty="0"/>
              <a:t>9. Explainability</a:t>
            </a:r>
            <a:r>
              <a:rPr lang="en-IN" sz="2400" dirty="0"/>
              <a:t> &amp; Transparency </a:t>
            </a:r>
            <a:endParaRPr sz="2400" dirty="0"/>
          </a:p>
          <a:p>
            <a:pPr>
              <a:defRPr sz="2200">
                <a:solidFill>
                  <a:srgbClr val="E6E6E6"/>
                </a:solidFill>
              </a:defRPr>
            </a:pPr>
            <a:r>
              <a:rPr sz="2400" dirty="0"/>
              <a:t>10. </a:t>
            </a:r>
            <a:r>
              <a:rPr lang="en-IN" sz="2400" dirty="0"/>
              <a:t>Deployment &amp; </a:t>
            </a:r>
            <a:r>
              <a:rPr sz="2400" dirty="0"/>
              <a:t>Operational Controls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rPr sz="2400" dirty="0"/>
              <a:t>11. </a:t>
            </a:r>
            <a:r>
              <a:rPr lang="en-IN" sz="2400" dirty="0"/>
              <a:t>Known </a:t>
            </a:r>
            <a:r>
              <a:rPr sz="2400" dirty="0"/>
              <a:t>Limitations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rPr sz="2400" dirty="0"/>
              <a:t>12. </a:t>
            </a:r>
            <a:r>
              <a:rPr lang="en-IN" sz="2400" dirty="0"/>
              <a:t>Maintenance &amp; </a:t>
            </a:r>
            <a:r>
              <a:rPr sz="2400" dirty="0"/>
              <a:t>Monitoring Plan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4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393877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D700"/>
                </a:solidFill>
              </a:defRPr>
            </a:pPr>
            <a:r>
              <a:rPr sz="3600" b="1" dirty="0">
                <a:solidFill>
                  <a:schemeClr val="accent2"/>
                </a:solidFill>
              </a:rPr>
              <a:t>Data Card Template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50688" cy="44012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6E6E6"/>
                </a:solidFill>
              </a:defRPr>
            </a:pPr>
            <a:r>
              <a:rPr sz="2800" dirty="0"/>
              <a:t>1. Dataset Overview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rPr sz="2800" dirty="0"/>
              <a:t>2. Data Collection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rPr sz="2800" dirty="0"/>
              <a:t>3. Data Structure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rPr sz="2800" dirty="0"/>
              <a:t>4. Data Quality</a:t>
            </a:r>
            <a:r>
              <a:rPr lang="en-IN" sz="2800" dirty="0"/>
              <a:t> Assessment</a:t>
            </a:r>
            <a:endParaRPr sz="2800" dirty="0"/>
          </a:p>
          <a:p>
            <a:pPr>
              <a:defRPr sz="2200">
                <a:solidFill>
                  <a:srgbClr val="E6E6E6"/>
                </a:solidFill>
              </a:defRPr>
            </a:pPr>
            <a:r>
              <a:rPr sz="2800" dirty="0"/>
              <a:t>5. Sensitive Attributes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rPr sz="2800" dirty="0"/>
              <a:t>6. Bias Assessment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rPr sz="2800" dirty="0"/>
              <a:t>7. Preprocessing</a:t>
            </a:r>
            <a:r>
              <a:rPr lang="en-IN" sz="2800" dirty="0"/>
              <a:t> Steps</a:t>
            </a:r>
            <a:endParaRPr sz="2800" dirty="0"/>
          </a:p>
          <a:p>
            <a:pPr>
              <a:defRPr sz="2200">
                <a:solidFill>
                  <a:srgbClr val="E6E6E6"/>
                </a:solidFill>
              </a:defRPr>
            </a:pPr>
            <a:r>
              <a:rPr sz="2800" dirty="0"/>
              <a:t>8. Privacy &amp; Compliance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rPr sz="2800" dirty="0"/>
              <a:t>9. Risks</a:t>
            </a:r>
            <a:r>
              <a:rPr lang="en-IN" sz="2800" dirty="0"/>
              <a:t> &amp; Limitations</a:t>
            </a:r>
            <a:endParaRPr sz="2800" dirty="0"/>
          </a:p>
          <a:p>
            <a:pPr>
              <a:defRPr sz="2200">
                <a:solidFill>
                  <a:srgbClr val="E6E6E6"/>
                </a:solidFill>
              </a:defRPr>
            </a:pPr>
            <a:r>
              <a:rPr sz="2800" dirty="0"/>
              <a:t>10. Controls</a:t>
            </a:r>
            <a:r>
              <a:rPr lang="en-IN" sz="2800" dirty="0"/>
              <a:t> Implemented</a:t>
            </a:r>
            <a:endParaRPr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4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496148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D700"/>
                </a:solidFill>
              </a:defRPr>
            </a:pPr>
            <a:r>
              <a:rPr sz="3600" b="1" dirty="0">
                <a:solidFill>
                  <a:schemeClr val="accent2"/>
                </a:solidFill>
              </a:rPr>
              <a:t>AI Decision Log Template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054641" cy="44319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200">
                <a:solidFill>
                  <a:srgbClr val="E6E6E6"/>
                </a:solidFill>
              </a:defRPr>
            </a:pPr>
            <a:r>
              <a:rPr dirty="0"/>
              <a:t>Tracks lifecycle decisions.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rPr dirty="0"/>
              <a:t>Fields: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</a:rPr>
              <a:t>Decision ID</a:t>
            </a:r>
            <a:endParaRPr lang="en-IN" dirty="0">
              <a:solidFill>
                <a:schemeClr val="bg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</a:rPr>
              <a:t>Date</a:t>
            </a:r>
            <a:endParaRPr lang="en-IN" dirty="0">
              <a:solidFill>
                <a:schemeClr val="bg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</a:rPr>
              <a:t>Decision Maker(s)</a:t>
            </a:r>
            <a:endParaRPr lang="en-IN" dirty="0">
              <a:solidFill>
                <a:schemeClr val="bg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</a:rPr>
              <a:t>Decision Category (Risk / Security / Fairness / Model Change / Deployment / …)</a:t>
            </a:r>
            <a:endParaRPr lang="en-IN" dirty="0">
              <a:solidFill>
                <a:schemeClr val="bg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</a:rPr>
              <a:t>Context / Problem Description</a:t>
            </a:r>
            <a:endParaRPr lang="en-IN" dirty="0">
              <a:solidFill>
                <a:schemeClr val="bg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</a:rPr>
              <a:t>Options Considered</a:t>
            </a:r>
            <a:endParaRPr lang="en-IN" dirty="0">
              <a:solidFill>
                <a:schemeClr val="bg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</a:rPr>
              <a:t>Final Decision</a:t>
            </a:r>
            <a:endParaRPr lang="en-IN" dirty="0">
              <a:solidFill>
                <a:schemeClr val="bg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</a:rPr>
              <a:t>Rationale for Decision</a:t>
            </a:r>
            <a:endParaRPr lang="en-IN" dirty="0">
              <a:solidFill>
                <a:schemeClr val="bg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</a:rPr>
              <a:t>Impact (High / Medium / Low)</a:t>
            </a:r>
            <a:endParaRPr lang="en-IN" dirty="0">
              <a:solidFill>
                <a:schemeClr val="bg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</a:rPr>
              <a:t>Evidence / Attachments</a:t>
            </a:r>
            <a:endParaRPr lang="en-IN" dirty="0">
              <a:solidFill>
                <a:schemeClr val="bg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</a:rPr>
              <a:t>Status (Open / Closed / In Review)</a:t>
            </a:r>
            <a:endParaRPr lang="en-IN" dirty="0">
              <a:solidFill>
                <a:schemeClr val="bg1"/>
              </a:solidFill>
            </a:endParaRPr>
          </a:p>
          <a:p>
            <a:pPr>
              <a:defRPr sz="2200">
                <a:solidFill>
                  <a:srgbClr val="E6E6E6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4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493564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D700"/>
                </a:solidFill>
              </a:defRPr>
            </a:pPr>
            <a:r>
              <a:rPr sz="3600" b="1" dirty="0">
                <a:solidFill>
                  <a:schemeClr val="accent2"/>
                </a:solidFill>
              </a:rPr>
              <a:t>AI Risk Assessment 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6124690" cy="36933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2200">
                <a:solidFill>
                  <a:srgbClr val="E6E6E6"/>
                </a:solidFill>
              </a:defRPr>
            </a:pPr>
            <a:r>
              <a:rPr sz="3600" b="1" dirty="0"/>
              <a:t>Use case details</a:t>
            </a:r>
          </a:p>
          <a:p>
            <a:pPr marL="571500" indent="-571500">
              <a:buFont typeface="Arial" panose="020B0604020202020204" pitchFamily="34" charset="0"/>
              <a:buChar char="•"/>
              <a:defRPr sz="2200">
                <a:solidFill>
                  <a:srgbClr val="E6E6E6"/>
                </a:solidFill>
              </a:defRPr>
            </a:pPr>
            <a:r>
              <a:rPr sz="3600" b="1" dirty="0"/>
              <a:t>RAG score</a:t>
            </a:r>
            <a:r>
              <a:rPr lang="en-IN" sz="3600" b="1" dirty="0"/>
              <a:t> /RISK Score</a:t>
            </a:r>
            <a:endParaRPr sz="3600" b="1" dirty="0"/>
          </a:p>
          <a:p>
            <a:pPr marL="571500" indent="-571500">
              <a:buFont typeface="Arial" panose="020B0604020202020204" pitchFamily="34" charset="0"/>
              <a:buChar char="•"/>
              <a:defRPr sz="2200">
                <a:solidFill>
                  <a:srgbClr val="E6E6E6"/>
                </a:solidFill>
              </a:defRPr>
            </a:pPr>
            <a:r>
              <a:rPr sz="3600" b="1" dirty="0"/>
              <a:t>Risk areas</a:t>
            </a:r>
          </a:p>
          <a:p>
            <a:pPr marL="571500" indent="-571500">
              <a:buFont typeface="Arial" panose="020B0604020202020204" pitchFamily="34" charset="0"/>
              <a:buChar char="•"/>
              <a:defRPr sz="2200">
                <a:solidFill>
                  <a:srgbClr val="E6E6E6"/>
                </a:solidFill>
              </a:defRPr>
            </a:pPr>
            <a:r>
              <a:rPr lang="en-IN" sz="3600" b="1" dirty="0"/>
              <a:t>MITRE </a:t>
            </a:r>
            <a:r>
              <a:rPr sz="3600" b="1" dirty="0"/>
              <a:t>ATLAS </a:t>
            </a:r>
            <a:r>
              <a:rPr lang="en-IN" sz="3600" b="1" dirty="0"/>
              <a:t>T</a:t>
            </a:r>
            <a:r>
              <a:rPr sz="3600" b="1" dirty="0" err="1"/>
              <a:t>hrea</a:t>
            </a:r>
            <a:r>
              <a:rPr lang="en-IN" sz="3600" b="1" dirty="0"/>
              <a:t>t Review</a:t>
            </a:r>
            <a:endParaRPr sz="3600" b="1" dirty="0"/>
          </a:p>
          <a:p>
            <a:pPr marL="571500" indent="-571500">
              <a:buFont typeface="Arial" panose="020B0604020202020204" pitchFamily="34" charset="0"/>
              <a:buChar char="•"/>
              <a:defRPr sz="2200">
                <a:solidFill>
                  <a:srgbClr val="E6E6E6"/>
                </a:solidFill>
              </a:defRPr>
            </a:pPr>
            <a:r>
              <a:rPr sz="3600" b="1" dirty="0"/>
              <a:t>Controls</a:t>
            </a:r>
            <a:r>
              <a:rPr lang="en-IN" sz="3600" b="1" dirty="0"/>
              <a:t> Required</a:t>
            </a:r>
            <a:endParaRPr sz="3600" b="1" dirty="0"/>
          </a:p>
          <a:p>
            <a:pPr marL="571500" indent="-571500">
              <a:buFont typeface="Arial" panose="020B0604020202020204" pitchFamily="34" charset="0"/>
              <a:buChar char="•"/>
              <a:defRPr sz="2200">
                <a:solidFill>
                  <a:srgbClr val="E6E6E6"/>
                </a:solidFill>
              </a:defRPr>
            </a:pPr>
            <a:r>
              <a:rPr sz="3600" b="1" dirty="0"/>
              <a:t>Final </a:t>
            </a:r>
            <a:r>
              <a:rPr lang="en-IN" sz="3600" b="1" dirty="0"/>
              <a:t>R</a:t>
            </a:r>
            <a:r>
              <a:rPr sz="3600" b="1" dirty="0" err="1"/>
              <a:t>ecommendation</a:t>
            </a:r>
            <a:endParaRPr sz="360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4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479669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D700"/>
                </a:solidFill>
              </a:defRPr>
            </a:pPr>
            <a:r>
              <a:rPr sz="3600" b="1" dirty="0">
                <a:solidFill>
                  <a:schemeClr val="accent2"/>
                </a:solidFill>
              </a:rPr>
              <a:t>AI Use Case Intake 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353051" cy="31393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2200">
                <a:solidFill>
                  <a:srgbClr val="E6E6E6"/>
                </a:solidFill>
              </a:defRPr>
            </a:pPr>
            <a:r>
              <a:rPr sz="3600" b="1" dirty="0">
                <a:solidFill>
                  <a:srgbClr val="E6E6E6"/>
                </a:solidFill>
              </a:rPr>
              <a:t>Basic information</a:t>
            </a:r>
          </a:p>
          <a:p>
            <a:pPr marL="571500" indent="-571500">
              <a:buFont typeface="Arial" panose="020B0604020202020204" pitchFamily="34" charset="0"/>
              <a:buChar char="•"/>
              <a:defRPr sz="2200">
                <a:solidFill>
                  <a:srgbClr val="E6E6E6"/>
                </a:solidFill>
              </a:defRPr>
            </a:pPr>
            <a:r>
              <a:rPr sz="3600" b="1" dirty="0">
                <a:solidFill>
                  <a:srgbClr val="E6E6E6"/>
                </a:solidFill>
              </a:rPr>
              <a:t>AI fit assessment</a:t>
            </a:r>
          </a:p>
          <a:p>
            <a:pPr marL="571500" indent="-571500">
              <a:buFont typeface="Arial" panose="020B0604020202020204" pitchFamily="34" charset="0"/>
              <a:buChar char="•"/>
              <a:defRPr sz="2200">
                <a:solidFill>
                  <a:srgbClr val="E6E6E6"/>
                </a:solidFill>
              </a:defRPr>
            </a:pPr>
            <a:r>
              <a:rPr sz="3600" b="1" dirty="0">
                <a:solidFill>
                  <a:srgbClr val="E6E6E6"/>
                </a:solidFill>
              </a:rPr>
              <a:t>Data requirements</a:t>
            </a:r>
          </a:p>
          <a:p>
            <a:pPr marL="571500" indent="-571500">
              <a:buFont typeface="Arial" panose="020B0604020202020204" pitchFamily="34" charset="0"/>
              <a:buChar char="•"/>
              <a:defRPr sz="2200">
                <a:solidFill>
                  <a:srgbClr val="E6E6E6"/>
                </a:solidFill>
              </a:defRPr>
            </a:pPr>
            <a:r>
              <a:rPr sz="3600" b="1" dirty="0">
                <a:solidFill>
                  <a:srgbClr val="E6E6E6"/>
                </a:solidFill>
              </a:rPr>
              <a:t>Risk indicators</a:t>
            </a:r>
          </a:p>
          <a:p>
            <a:pPr marL="571500" indent="-571500">
              <a:buFont typeface="Arial" panose="020B0604020202020204" pitchFamily="34" charset="0"/>
              <a:buChar char="•"/>
              <a:defRPr sz="2200">
                <a:solidFill>
                  <a:srgbClr val="E6E6E6"/>
                </a:solidFill>
              </a:defRPr>
            </a:pPr>
            <a:r>
              <a:rPr sz="3600" b="1" dirty="0">
                <a:solidFill>
                  <a:srgbClr val="E6E6E6"/>
                </a:solidFill>
              </a:rPr>
              <a:t>Approval routing.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4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487652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D700"/>
                </a:solidFill>
              </a:defRPr>
            </a:pPr>
            <a:r>
              <a:rPr sz="3600" b="1" dirty="0">
                <a:solidFill>
                  <a:schemeClr val="accent2"/>
                </a:solidFill>
              </a:rPr>
              <a:t>AI Model Approval 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490155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200">
                <a:solidFill>
                  <a:srgbClr val="E6E6E6"/>
                </a:solidFill>
              </a:defRPr>
            </a:pPr>
            <a:r>
              <a:rPr sz="2800" b="1" dirty="0"/>
              <a:t>Checklist for Board approval: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E6E6E6"/>
                </a:solidFill>
              </a:defRPr>
            </a:pPr>
            <a:r>
              <a:rPr dirty="0"/>
              <a:t>Model </a:t>
            </a:r>
            <a:r>
              <a:rPr lang="en-IN" dirty="0"/>
              <a:t>Information</a:t>
            </a:r>
            <a:endParaRPr dirty="0"/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E6E6E6"/>
                </a:solidFill>
              </a:defRPr>
            </a:pPr>
            <a:r>
              <a:rPr lang="en-IN" dirty="0"/>
              <a:t>Documentation Checklist ( Model Card , Data Card , Risk Assessment, Explainability Report , Atlas Threat Assessment, Monitoring Plan)</a:t>
            </a:r>
            <a:endParaRPr dirty="0"/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E6E6E6"/>
                </a:solidFill>
              </a:defRPr>
            </a:pPr>
            <a:r>
              <a:rPr lang="en-IN" dirty="0"/>
              <a:t>Control Validation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E6E6E6"/>
                </a:solidFill>
              </a:defRPr>
            </a:pPr>
            <a:r>
              <a:rPr lang="en-IN" dirty="0"/>
              <a:t>Governance Sign-Off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4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4386009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D700"/>
                </a:solidFill>
              </a:defRPr>
            </a:pPr>
            <a:r>
              <a:rPr sz="3600" b="1" dirty="0">
                <a:solidFill>
                  <a:schemeClr val="accent2"/>
                </a:solidFill>
              </a:rPr>
              <a:t>AI Audit Log Template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908" y="1371600"/>
            <a:ext cx="2021707" cy="424731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6E6E6"/>
                </a:solidFill>
              </a:defRPr>
            </a:pPr>
            <a:r>
              <a:rPr lang="en-IN" sz="2800" b="1" dirty="0">
                <a:solidFill>
                  <a:srgbClr val="E6E6E6"/>
                </a:solidFill>
              </a:rPr>
              <a:t>Fields : </a:t>
            </a:r>
            <a:endParaRPr sz="2800" b="1" dirty="0">
              <a:solidFill>
                <a:srgbClr val="E6E6E6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E6E6E6"/>
                </a:solidFill>
              </a:defRPr>
            </a:pPr>
            <a:r>
              <a:rPr dirty="0"/>
              <a:t>Audit ID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E6E6E6"/>
                </a:solidFill>
              </a:defRPr>
            </a:pPr>
            <a:r>
              <a:rPr dirty="0"/>
              <a:t>Audit Date</a:t>
            </a:r>
            <a:endParaRPr lang="en-IN" dirty="0"/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E6E6E6"/>
                </a:solidFill>
              </a:defRPr>
            </a:pPr>
            <a:r>
              <a:rPr lang="en-IN" dirty="0"/>
              <a:t>Model Name</a:t>
            </a:r>
            <a:endParaRPr dirty="0"/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E6E6E6"/>
                </a:solidFill>
              </a:defRPr>
            </a:pPr>
            <a:r>
              <a:rPr dirty="0"/>
              <a:t>Issue</a:t>
            </a:r>
            <a:r>
              <a:rPr lang="en-IN" dirty="0"/>
              <a:t> Type</a:t>
            </a:r>
            <a:endParaRPr dirty="0"/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E6E6E6"/>
                </a:solidFill>
              </a:defRPr>
            </a:pPr>
            <a:r>
              <a:rPr dirty="0"/>
              <a:t>Severity</a:t>
            </a:r>
            <a:endParaRPr lang="en-IN" dirty="0"/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E6E6E6"/>
                </a:solidFill>
              </a:defRPr>
            </a:pPr>
            <a:r>
              <a:rPr lang="en-IN" dirty="0"/>
              <a:t>Description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E6E6E6"/>
                </a:solidFill>
              </a:defRPr>
            </a:pPr>
            <a:r>
              <a:rPr lang="en-IN" dirty="0"/>
              <a:t>Root Cause</a:t>
            </a:r>
            <a:endParaRPr dirty="0"/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E6E6E6"/>
                </a:solidFill>
              </a:defRPr>
            </a:pPr>
            <a:r>
              <a:rPr dirty="0"/>
              <a:t>Evidence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E6E6E6"/>
                </a:solidFill>
              </a:defRPr>
            </a:pPr>
            <a:r>
              <a:rPr dirty="0"/>
              <a:t>Action Taken</a:t>
            </a:r>
            <a:endParaRPr lang="en-IN" dirty="0"/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E6E6E6"/>
                </a:solidFill>
              </a:defRPr>
            </a:pPr>
            <a:r>
              <a:rPr lang="en-IN" dirty="0"/>
              <a:t>Owner</a:t>
            </a:r>
            <a:endParaRPr dirty="0"/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E6E6E6"/>
                </a:solidFill>
              </a:defRPr>
            </a:pPr>
            <a:r>
              <a:rPr dirty="0"/>
              <a:t>Status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4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642015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D700"/>
                </a:solidFill>
              </a:defRPr>
            </a:pPr>
            <a:r>
              <a:rPr sz="3600" b="1" dirty="0">
                <a:solidFill>
                  <a:schemeClr val="accent2"/>
                </a:solidFill>
              </a:rPr>
              <a:t>MITRE ATLAS Threat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949240" cy="258532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marL="571500" indent="-571500">
              <a:buFont typeface="Arial" panose="020B0604020202020204" pitchFamily="34" charset="0"/>
              <a:buChar char="•"/>
              <a:defRPr sz="2200">
                <a:solidFill>
                  <a:srgbClr val="E6E6E6"/>
                </a:solidFill>
              </a:defRPr>
            </a:pPr>
            <a:r>
              <a:rPr sz="3600" b="1" dirty="0">
                <a:solidFill>
                  <a:srgbClr val="E6E6E6"/>
                </a:solidFill>
              </a:rPr>
              <a:t>Threat surface</a:t>
            </a:r>
          </a:p>
          <a:p>
            <a:pPr marL="571500" indent="-571500">
              <a:buFont typeface="Arial" panose="020B0604020202020204" pitchFamily="34" charset="0"/>
              <a:buChar char="•"/>
              <a:defRPr sz="2200">
                <a:solidFill>
                  <a:srgbClr val="E6E6E6"/>
                </a:solidFill>
              </a:defRPr>
            </a:pPr>
            <a:r>
              <a:rPr sz="3600" b="1" dirty="0">
                <a:solidFill>
                  <a:srgbClr val="E6E6E6"/>
                </a:solidFill>
              </a:rPr>
              <a:t>Threat </a:t>
            </a:r>
            <a:r>
              <a:rPr lang="en-IN" sz="3600" b="1" dirty="0">
                <a:solidFill>
                  <a:srgbClr val="E6E6E6"/>
                </a:solidFill>
              </a:rPr>
              <a:t>Mapping Table</a:t>
            </a:r>
            <a:endParaRPr sz="3600" b="1" dirty="0">
              <a:solidFill>
                <a:srgbClr val="E6E6E6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  <a:defRPr sz="2200">
                <a:solidFill>
                  <a:srgbClr val="E6E6E6"/>
                </a:solidFill>
              </a:defRPr>
            </a:pPr>
            <a:r>
              <a:rPr sz="3600" b="1" dirty="0">
                <a:solidFill>
                  <a:srgbClr val="E6E6E6"/>
                </a:solidFill>
              </a:rPr>
              <a:t>Controls </a:t>
            </a:r>
            <a:r>
              <a:rPr lang="en-IN" sz="3600" b="1" dirty="0">
                <a:solidFill>
                  <a:srgbClr val="E6E6E6"/>
                </a:solidFill>
              </a:rPr>
              <a:t>Summary</a:t>
            </a:r>
            <a:endParaRPr sz="3600" b="1" dirty="0">
              <a:solidFill>
                <a:srgbClr val="E6E6E6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  <a:defRPr sz="2200">
                <a:solidFill>
                  <a:srgbClr val="E6E6E6"/>
                </a:solidFill>
              </a:defRPr>
            </a:pPr>
            <a:r>
              <a:rPr sz="3600" b="1" dirty="0">
                <a:solidFill>
                  <a:srgbClr val="E6E6E6"/>
                </a:solidFill>
              </a:rPr>
              <a:t>Residual </a:t>
            </a:r>
            <a:r>
              <a:rPr lang="en-IN" sz="3600" b="1" dirty="0">
                <a:solidFill>
                  <a:srgbClr val="E6E6E6"/>
                </a:solidFill>
              </a:rPr>
              <a:t>R</a:t>
            </a:r>
            <a:r>
              <a:rPr sz="3600" b="1" dirty="0">
                <a:solidFill>
                  <a:srgbClr val="E6E6E6"/>
                </a:solidFill>
              </a:rPr>
              <a:t>is</a:t>
            </a:r>
            <a:r>
              <a:rPr lang="en-IN" sz="3600" b="1" dirty="0">
                <a:solidFill>
                  <a:srgbClr val="E6E6E6"/>
                </a:solidFill>
              </a:rPr>
              <a:t>k</a:t>
            </a:r>
            <a:endParaRPr sz="3600" b="1" dirty="0">
              <a:solidFill>
                <a:srgbClr val="E6E6E6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43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5BCEDB-4C04-52F6-6620-92FF76F16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201A5A2-0EB6-FD29-B7D8-D88452DC8201}"/>
              </a:ext>
            </a:extLst>
          </p:cNvPr>
          <p:cNvSpPr txBox="1"/>
          <p:nvPr/>
        </p:nvSpPr>
        <p:spPr>
          <a:xfrm>
            <a:off x="1258529" y="2064774"/>
            <a:ext cx="66171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3600" b="1">
                <a:solidFill>
                  <a:srgbClr val="FFD700"/>
                </a:solidFill>
              </a:defRPr>
            </a:pPr>
            <a:r>
              <a:rPr lang="en-IN" sz="3600" b="1" dirty="0">
                <a:solidFill>
                  <a:schemeClr val="accent2"/>
                </a:solidFill>
              </a:rPr>
              <a:t>                 </a:t>
            </a:r>
            <a:r>
              <a:rPr lang="en-IN" sz="3600" b="1" dirty="0">
                <a:solidFill>
                  <a:schemeClr val="accent2"/>
                </a:solidFill>
                <a:latin typeface="Gill Sans Ultra Bold Condensed" panose="020B0A06020104020203" pitchFamily="34" charset="0"/>
              </a:rPr>
              <a:t>Thank You</a:t>
            </a:r>
          </a:p>
          <a:p>
            <a:r>
              <a:rPr lang="en-IN" dirty="0"/>
              <a:t>                                                                       </a:t>
            </a:r>
            <a:r>
              <a:rPr lang="en-IN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Sai Asritha Yaddala</a:t>
            </a:r>
          </a:p>
        </p:txBody>
      </p:sp>
    </p:spTree>
    <p:extLst>
      <p:ext uri="{BB962C8B-B14F-4D97-AF65-F5344CB8AC3E}">
        <p14:creationId xmlns:p14="http://schemas.microsoft.com/office/powerpoint/2010/main" val="340413592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24</TotalTime>
  <Words>310</Words>
  <Application>Microsoft Office PowerPoint</Application>
  <PresentationFormat>On-screen Show (4:3)</PresentationFormat>
  <Paragraphs>86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Arial Rounded MT Bold</vt:lpstr>
      <vt:lpstr>Calibri</vt:lpstr>
      <vt:lpstr>Calibri Light</vt:lpstr>
      <vt:lpstr>Gill Sans Ultra Bold Condensed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Asritha Reddy</dc:creator>
  <cp:keywords/>
  <dc:description>generated using python-pptx</dc:description>
  <cp:lastModifiedBy>Asritha Reddy</cp:lastModifiedBy>
  <cp:revision>7</cp:revision>
  <dcterms:created xsi:type="dcterms:W3CDTF">2013-01-27T09:14:16Z</dcterms:created>
  <dcterms:modified xsi:type="dcterms:W3CDTF">2025-11-16T16:15:32Z</dcterms:modified>
  <cp:category/>
</cp:coreProperties>
</file>