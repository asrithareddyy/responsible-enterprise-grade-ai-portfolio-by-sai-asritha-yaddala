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19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21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3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8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1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6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34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27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70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725B7B-65AB-E730-3E56-6424D88B2AD7}"/>
              </a:ext>
            </a:extLst>
          </p:cNvPr>
          <p:cNvSpPr txBox="1"/>
          <p:nvPr/>
        </p:nvSpPr>
        <p:spPr>
          <a:xfrm>
            <a:off x="1838632" y="2576052"/>
            <a:ext cx="57518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IN"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Responsible AI Policy </a:t>
            </a:r>
          </a:p>
          <a:p>
            <a:pPr>
              <a:defRPr sz="4000" b="1">
                <a:solidFill>
                  <a:srgbClr val="FFD700"/>
                </a:solidFill>
              </a:defRPr>
            </a:pPr>
            <a:endParaRPr lang="en-IN" sz="4000" b="1" dirty="0">
              <a:solidFill>
                <a:schemeClr val="accent2"/>
              </a:solidFill>
              <a:latin typeface="Britannic Bold" panose="020B0903060703020204" pitchFamily="34" charset="0"/>
            </a:endParaRPr>
          </a:p>
          <a:p>
            <a:pPr>
              <a:defRPr sz="4000" b="1">
                <a:solidFill>
                  <a:srgbClr val="FFD700"/>
                </a:solidFill>
              </a:defRPr>
            </a:pPr>
            <a:r>
              <a:rPr lang="en-IN" sz="2000" dirty="0">
                <a:solidFill>
                  <a:schemeClr val="bg2"/>
                </a:solidFill>
                <a:latin typeface="Elephant" panose="02020904090505020303" pitchFamily="18" charset="0"/>
              </a:rPr>
              <a:t>			Sai Asritha Yaddala</a:t>
            </a:r>
          </a:p>
          <a:p>
            <a:pPr>
              <a:defRPr sz="4000" b="1">
                <a:solidFill>
                  <a:srgbClr val="FFD700"/>
                </a:solidFill>
              </a:defRPr>
            </a:pPr>
            <a:endParaRPr lang="en-IN" sz="4000" b="1" dirty="0">
              <a:solidFill>
                <a:schemeClr val="accent2"/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7239" y="548640"/>
            <a:ext cx="40382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Purpose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89132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Establish safe, ethical and compliant AI usage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Applies to ML, LLMs, GenAI, internal </a:t>
            </a:r>
            <a:r>
              <a:rPr lang="en-IN" dirty="0">
                <a:latin typeface="Aptos" panose="020B0004020202020204" pitchFamily="34" charset="0"/>
              </a:rPr>
              <a:t>&amp;</a:t>
            </a:r>
            <a:r>
              <a:rPr dirty="0">
                <a:latin typeface="Aptos" panose="020B0004020202020204" pitchFamily="34" charset="0"/>
              </a:rPr>
              <a:t> vendor AI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>
                <a:latin typeface="Aptos" panose="020B0004020202020204" pitchFamily="34" charset="0"/>
              </a:rPr>
              <a:t>• Covers full lifecycle: design </a:t>
            </a:r>
            <a:r>
              <a:rPr lang="en-IN" dirty="0"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dirty="0">
                <a:latin typeface="Aptos" panose="020B0004020202020204" pitchFamily="34" charset="0"/>
              </a:rPr>
              <a:t> deploy </a:t>
            </a:r>
            <a:r>
              <a:rPr lang="en-IN" dirty="0"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dirty="0">
                <a:latin typeface="Aptos" panose="020B0004020202020204" pitchFamily="34" charset="0"/>
              </a:rPr>
              <a:t>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84CC5-20A2-8E9B-A2EE-70873128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0D10A-9401-BA96-B92F-58D534FCFFFE}"/>
              </a:ext>
            </a:extLst>
          </p:cNvPr>
          <p:cNvSpPr txBox="1"/>
          <p:nvPr/>
        </p:nvSpPr>
        <p:spPr>
          <a:xfrm>
            <a:off x="1627239" y="548640"/>
            <a:ext cx="264046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IN"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Definitions</a:t>
            </a:r>
            <a:endParaRPr sz="4000" b="1" dirty="0">
              <a:solidFill>
                <a:schemeClr val="accent2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04F82-243B-4A99-0276-82538A6C7CFF}"/>
              </a:ext>
            </a:extLst>
          </p:cNvPr>
          <p:cNvSpPr txBox="1"/>
          <p:nvPr/>
        </p:nvSpPr>
        <p:spPr>
          <a:xfrm>
            <a:off x="640080" y="1828800"/>
            <a:ext cx="4167231" cy="2369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b="1" dirty="0">
                <a:latin typeface="Aptos" panose="020B0004020202020204" pitchFamily="34" charset="0"/>
              </a:rPr>
              <a:t>AI SYSTEM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b="1" dirty="0">
                <a:latin typeface="Aptos" panose="020B0004020202020204" pitchFamily="34" charset="0"/>
              </a:rPr>
              <a:t>HIGH RISK AI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b="1" dirty="0">
                <a:latin typeface="Aptos" panose="020B0004020202020204" pitchFamily="34" charset="0"/>
              </a:rPr>
              <a:t>RESPONSIBLE AI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b="1" dirty="0">
                <a:latin typeface="Aptos" panose="020B0004020202020204" pitchFamily="34" charset="0"/>
              </a:rPr>
              <a:t>AI LIFECYCLE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b="1" dirty="0">
                <a:latin typeface="Aptos" panose="020B0004020202020204" pitchFamily="34" charset="0"/>
              </a:rPr>
              <a:t>HUMAN OVERSIGHT</a:t>
            </a:r>
            <a:endParaRPr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71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9394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Responsible AI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11792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1. Human‑Centered Design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2. Ethical Data Use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3. Transparency &amp; Traceability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4. Safety &amp; Security by Design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5. Responsible Deployment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6. Continuous Monitoring</a:t>
            </a:r>
            <a:r>
              <a:rPr lang="en-IN" dirty="0"/>
              <a:t> &amp; Auditability</a:t>
            </a:r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7. Accountability &amp; Governance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5626" y="830826"/>
            <a:ext cx="51411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Governance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15979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b="1" dirty="0"/>
              <a:t>Strategic</a:t>
            </a:r>
            <a:r>
              <a:rPr lang="en-IN" b="1" dirty="0"/>
              <a:t> Governance Layer</a:t>
            </a:r>
            <a:r>
              <a:rPr b="1" dirty="0"/>
              <a:t>: </a:t>
            </a:r>
            <a:r>
              <a:rPr dirty="0"/>
              <a:t>AI Board, CISO, </a:t>
            </a:r>
            <a:r>
              <a:rPr lang="en-IN" dirty="0"/>
              <a:t>  </a:t>
            </a:r>
            <a:r>
              <a:rPr dirty="0"/>
              <a:t>Legal, Ethics Council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sz="2600" b="1" dirty="0">
                <a:solidFill>
                  <a:srgbClr val="E6E6E6"/>
                </a:solidFill>
              </a:rPr>
              <a:t>Tactical</a:t>
            </a:r>
            <a:r>
              <a:rPr lang="en-IN" sz="2600" b="1" dirty="0">
                <a:solidFill>
                  <a:srgbClr val="E6E6E6"/>
                </a:solidFill>
              </a:rPr>
              <a:t> Governance Layer</a:t>
            </a:r>
            <a:r>
              <a:rPr dirty="0"/>
              <a:t>: AI Program Manager, AI Risk Manager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b="1" dirty="0"/>
              <a:t>Operational</a:t>
            </a:r>
            <a:r>
              <a:rPr lang="en-IN" b="1" dirty="0"/>
              <a:t> Governance Layer </a:t>
            </a:r>
            <a:r>
              <a:rPr dirty="0"/>
              <a:t>: Data Scientists, ML Engineers, </a:t>
            </a:r>
            <a:r>
              <a:rPr dirty="0" err="1"/>
              <a:t>MLOps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5608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AI 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653010" cy="1969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Required for every AI system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Impact × Likelihood × Detectability scoring</a:t>
            </a:r>
            <a:r>
              <a:rPr lang="en-IN" dirty="0"/>
              <a:t> (Risk scoring)</a:t>
            </a:r>
            <a:endParaRPr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RAG Ratings: Red / Amber / Green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dirty="0"/>
              <a:t>• High‑risk AI needs full ATLAS + Privacy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64582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Mandatory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1828800"/>
            <a:ext cx="897685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dirty="0"/>
              <a:t>Data</a:t>
            </a:r>
            <a:r>
              <a:rPr lang="en-IN" dirty="0"/>
              <a:t> Controls : </a:t>
            </a:r>
            <a:r>
              <a:rPr dirty="0"/>
              <a:t> Bias, minimization, provenance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dirty="0"/>
              <a:t>Model</a:t>
            </a:r>
            <a:r>
              <a:rPr lang="en-IN" dirty="0"/>
              <a:t> Controls</a:t>
            </a:r>
            <a:r>
              <a:rPr dirty="0"/>
              <a:t>: Explainability, robustness, fairness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dirty="0"/>
              <a:t>Security</a:t>
            </a:r>
            <a:r>
              <a:rPr lang="en-IN" dirty="0"/>
              <a:t> Controls</a:t>
            </a:r>
            <a:r>
              <a:rPr dirty="0"/>
              <a:t> (ATLAS): Prompt injection, poisoning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dirty="0"/>
              <a:t>Deployment</a:t>
            </a:r>
            <a:r>
              <a:rPr lang="en-IN" dirty="0"/>
              <a:t> Controls</a:t>
            </a:r>
            <a:r>
              <a:rPr dirty="0"/>
              <a:t>: Versioning, approval gates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dirty="0"/>
              <a:t>Monitoring</a:t>
            </a:r>
            <a:r>
              <a:rPr lang="en-IN" dirty="0"/>
              <a:t> Controls:</a:t>
            </a:r>
            <a:r>
              <a:rPr dirty="0"/>
              <a:t> Drift, anomalies, misuse detection</a:t>
            </a:r>
            <a:r>
              <a:rPr lang="en-IN" sz="2600" dirty="0">
                <a:solidFill>
                  <a:srgbClr val="E6E6E6"/>
                </a:solidFill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 sz="2600">
                <a:solidFill>
                  <a:srgbClr val="E6E6E6"/>
                </a:solidFill>
              </a:defRPr>
            </a:pPr>
            <a:r>
              <a:rPr lang="en-IN" sz="2600" dirty="0">
                <a:solidFill>
                  <a:srgbClr val="E6E6E6"/>
                </a:solidFill>
              </a:rPr>
              <a:t>Organizational Controls:  </a:t>
            </a:r>
            <a:r>
              <a:rPr lang="en-IN" dirty="0" err="1"/>
              <a:t>RACI,Ethical</a:t>
            </a:r>
            <a:r>
              <a:rPr lang="en-IN" dirty="0"/>
              <a:t> Review, Regulatory Mapping, Timely Policy Review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691" y="722671"/>
            <a:ext cx="692689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Documentation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Model Card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Data Card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Risk Assessment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Explainability Report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ATLAS Threat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10561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Human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HITL required for high‑risk decisions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Oversight actions must be logged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Human must stay in command in critical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2405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Compliance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ISO/IEC 42001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NIST AI RMF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OECD Principles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EU AI Act (where relevant)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PDPA / GDPR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57529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sz="4000" b="1" dirty="0">
                <a:solidFill>
                  <a:schemeClr val="accent2"/>
                </a:solidFill>
                <a:latin typeface="Britannic Bold" panose="020B0903060703020204" pitchFamily="34" charset="0"/>
              </a:rPr>
              <a:t>Policy Review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Reviewed annually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Updated based on regulations or risks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t>• Exceptions require AI Board + Legal 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7EB7-86A6-C983-2760-A096C71F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457200">
              <a:defRPr sz="4000" b="1">
                <a:solidFill>
                  <a:srgbClr val="FFD700"/>
                </a:solidFill>
              </a:defRPr>
            </a:pPr>
            <a:r>
              <a:rPr lang="en-IN" sz="4000" b="1" dirty="0">
                <a:solidFill>
                  <a:schemeClr val="accent2"/>
                </a:solidFill>
                <a:latin typeface="Britannic Bold" panose="020B0903060703020204" pitchFamily="34" charset="0"/>
                <a:ea typeface="+mn-ea"/>
                <a:cs typeface="+mn-cs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F7694-2794-9064-4826-5007FB46F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				</a:t>
            </a:r>
            <a:r>
              <a:rPr lang="en-IN" sz="2800" b="1" dirty="0">
                <a:latin typeface="Bodoni MT Condensed" panose="02070606080606020203" pitchFamily="18" charset="0"/>
              </a:rPr>
              <a:t>Sai Asritha Yaddala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2413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336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Bodoni MT Condensed</vt:lpstr>
      <vt:lpstr>Britannic Bold</vt:lpstr>
      <vt:lpstr>Elephant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Asritha Reddy</dc:creator>
  <cp:keywords/>
  <dc:description>generated using python-pptx</dc:description>
  <cp:lastModifiedBy>Asritha Reddy</cp:lastModifiedBy>
  <cp:revision>5</cp:revision>
  <dcterms:created xsi:type="dcterms:W3CDTF">2013-01-27T09:14:16Z</dcterms:created>
  <dcterms:modified xsi:type="dcterms:W3CDTF">2025-11-17T03:45:23Z</dcterms:modified>
  <cp:category/>
</cp:coreProperties>
</file>