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66424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820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21780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6769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419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7615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7873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4642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1301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4185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6696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6142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640080"/>
            <a:ext cx="6512617" cy="36625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82828"/>
                </a:solidFill>
              </a:defRPr>
            </a:pPr>
            <a:endParaRPr lang="en-IN" dirty="0">
              <a:solidFill>
                <a:schemeClr val="accent2"/>
              </a:solidFill>
            </a:endParaRPr>
          </a:p>
          <a:p>
            <a:pPr>
              <a:defRPr sz="4000" b="1">
                <a:solidFill>
                  <a:srgbClr val="282828"/>
                </a:solidFill>
              </a:defRPr>
            </a:pPr>
            <a:endParaRPr lang="en-IN" dirty="0">
              <a:solidFill>
                <a:schemeClr val="accent2"/>
              </a:solidFill>
            </a:endParaRPr>
          </a:p>
          <a:p>
            <a:pPr>
              <a:defRPr sz="4000" b="1">
                <a:solidFill>
                  <a:srgbClr val="282828"/>
                </a:solidFill>
              </a:defRPr>
            </a:pPr>
            <a:endParaRPr lang="en-IN" dirty="0">
              <a:solidFill>
                <a:schemeClr val="accent2"/>
              </a:solidFill>
            </a:endParaRPr>
          </a:p>
          <a:p>
            <a:pPr>
              <a:defRPr sz="4000" b="1">
                <a:solidFill>
                  <a:srgbClr val="282828"/>
                </a:solidFill>
              </a:defRPr>
            </a:pPr>
            <a:r>
              <a:rPr lang="en-IN" dirty="0">
                <a:solidFill>
                  <a:schemeClr val="accent2"/>
                </a:solidFill>
              </a:rPr>
              <a:t>       </a:t>
            </a:r>
            <a:r>
              <a:rPr dirty="0">
                <a:solidFill>
                  <a:schemeClr val="accent2"/>
                </a:solidFill>
              </a:rPr>
              <a:t>Trustworthy AI Guidelines</a:t>
            </a:r>
            <a:endParaRPr lang="en-IN" dirty="0">
              <a:solidFill>
                <a:schemeClr val="accent2"/>
              </a:solidFill>
            </a:endParaRPr>
          </a:p>
          <a:p>
            <a:pPr>
              <a:defRPr sz="4000" b="1">
                <a:solidFill>
                  <a:srgbClr val="282828"/>
                </a:solidFill>
              </a:defRPr>
            </a:pPr>
            <a:endParaRPr lang="en-IN" dirty="0">
              <a:solidFill>
                <a:schemeClr val="accent2"/>
              </a:solidFill>
            </a:endParaRPr>
          </a:p>
          <a:p>
            <a:pPr>
              <a:defRPr sz="4000" b="1">
                <a:solidFill>
                  <a:srgbClr val="282828"/>
                </a:solidFill>
              </a:defRPr>
            </a:pPr>
            <a:r>
              <a:rPr lang="en-IN" sz="3200" dirty="0">
                <a:solidFill>
                  <a:schemeClr val="bg2">
                    <a:lumMod val="50000"/>
                  </a:schemeClr>
                </a:solidFill>
                <a:latin typeface="Bahnschrift" panose="020B0502040204020203" pitchFamily="34" charset="0"/>
              </a:rPr>
              <a:t>            Sai Asritha Yaddala</a:t>
            </a:r>
            <a:endParaRPr sz="3200" dirty="0">
              <a:solidFill>
                <a:schemeClr val="bg2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640080"/>
            <a:ext cx="3759940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82828"/>
                </a:solidFill>
              </a:defRPr>
            </a:pPr>
            <a:r>
              <a:rPr dirty="0">
                <a:solidFill>
                  <a:schemeClr val="accent2"/>
                </a:solidFill>
              </a:rPr>
              <a:t>1. Accountability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6803923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lvl="1">
              <a:defRPr sz="2400">
                <a:solidFill>
                  <a:srgbClr val="555555"/>
                </a:solidFill>
              </a:defRPr>
            </a:pPr>
            <a:r>
              <a:rPr sz="2400" dirty="0">
                <a:solidFill>
                  <a:schemeClr val="bg2">
                    <a:lumMod val="50000"/>
                  </a:schemeClr>
                </a:solidFill>
                <a:latin typeface="Bahnschrift" panose="020B0502040204020203" pitchFamily="34" charset="0"/>
              </a:rPr>
              <a:t>• Clear ownership for every AI system</a:t>
            </a:r>
          </a:p>
          <a:p>
            <a:pPr lvl="1">
              <a:defRPr sz="2400">
                <a:solidFill>
                  <a:srgbClr val="555555"/>
                </a:solidFill>
              </a:defRPr>
            </a:pPr>
            <a:r>
              <a:rPr sz="2400" dirty="0">
                <a:solidFill>
                  <a:schemeClr val="bg2">
                    <a:lumMod val="50000"/>
                  </a:schemeClr>
                </a:solidFill>
                <a:latin typeface="Bahnschrift" panose="020B0502040204020203" pitchFamily="34" charset="0"/>
              </a:rPr>
              <a:t>• Defined responsibilities and escalation paths</a:t>
            </a:r>
          </a:p>
          <a:p>
            <a:pPr lvl="1">
              <a:defRPr sz="2400">
                <a:solidFill>
                  <a:srgbClr val="555555"/>
                </a:solidFill>
              </a:defRPr>
            </a:pPr>
            <a:r>
              <a:rPr sz="2400" dirty="0">
                <a:solidFill>
                  <a:schemeClr val="bg2">
                    <a:lumMod val="50000"/>
                  </a:schemeClr>
                </a:solidFill>
                <a:latin typeface="Bahnschrift" panose="020B0502040204020203" pitchFamily="34" charset="0"/>
              </a:rPr>
              <a:t>• Auditable decision-making processes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640080"/>
            <a:ext cx="3526863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82828"/>
                </a:solidFill>
              </a:defRPr>
            </a:pPr>
            <a:r>
              <a:rPr sz="4000" b="1" dirty="0">
                <a:solidFill>
                  <a:schemeClr val="accent2"/>
                </a:solidFill>
              </a:rPr>
              <a:t>2. Transparency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1549" y="1740310"/>
            <a:ext cx="6550191" cy="1477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lvl="1">
              <a:defRPr sz="2400">
                <a:solidFill>
                  <a:srgbClr val="555555"/>
                </a:solidFill>
              </a:defRPr>
            </a:pPr>
            <a:r>
              <a:rPr sz="2400" dirty="0">
                <a:solidFill>
                  <a:schemeClr val="bg2">
                    <a:lumMod val="50000"/>
                  </a:schemeClr>
                </a:solidFill>
                <a:latin typeface="Bahnschrift" panose="020B0502040204020203" pitchFamily="34" charset="0"/>
              </a:rPr>
              <a:t>• Explain how the AI works in simple terms</a:t>
            </a:r>
          </a:p>
          <a:p>
            <a:pPr lvl="1">
              <a:defRPr sz="2400">
                <a:solidFill>
                  <a:srgbClr val="555555"/>
                </a:solidFill>
              </a:defRPr>
            </a:pPr>
            <a:r>
              <a:rPr sz="2400" dirty="0">
                <a:solidFill>
                  <a:schemeClr val="bg2">
                    <a:lumMod val="50000"/>
                  </a:schemeClr>
                </a:solidFill>
                <a:latin typeface="Bahnschrift" panose="020B0502040204020203" pitchFamily="34" charset="0"/>
              </a:rPr>
              <a:t>• Communicate model limitations clearly</a:t>
            </a:r>
          </a:p>
          <a:p>
            <a:pPr lvl="1">
              <a:defRPr sz="2400">
                <a:solidFill>
                  <a:srgbClr val="555555"/>
                </a:solidFill>
              </a:defRPr>
            </a:pPr>
            <a:r>
              <a:rPr sz="2400" dirty="0">
                <a:solidFill>
                  <a:schemeClr val="bg2">
                    <a:lumMod val="50000"/>
                  </a:schemeClr>
                </a:solidFill>
                <a:latin typeface="Bahnschrift" panose="020B0502040204020203" pitchFamily="34" charset="0"/>
              </a:rPr>
              <a:t>• Disclose AI involvement to affected users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640080"/>
            <a:ext cx="2424446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82828"/>
                </a:solidFill>
              </a:defRPr>
            </a:pPr>
            <a:r>
              <a:rPr sz="4000" b="1" dirty="0">
                <a:solidFill>
                  <a:schemeClr val="accent2"/>
                </a:solidFill>
              </a:rPr>
              <a:t>3. Fairness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6442789" cy="1477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lvl="1">
              <a:defRPr sz="2400">
                <a:solidFill>
                  <a:srgbClr val="555555"/>
                </a:solidFill>
              </a:defRPr>
            </a:pPr>
            <a:r>
              <a:rPr sz="2400" dirty="0">
                <a:solidFill>
                  <a:schemeClr val="bg2">
                    <a:lumMod val="50000"/>
                  </a:schemeClr>
                </a:solidFill>
                <a:latin typeface="Bahnschrift" panose="020B0502040204020203" pitchFamily="34" charset="0"/>
              </a:rPr>
              <a:t>• Prevent discrimination in outcomes</a:t>
            </a:r>
          </a:p>
          <a:p>
            <a:pPr lvl="1">
              <a:defRPr sz="2400">
                <a:solidFill>
                  <a:srgbClr val="555555"/>
                </a:solidFill>
              </a:defRPr>
            </a:pPr>
            <a:r>
              <a:rPr sz="2400" dirty="0">
                <a:solidFill>
                  <a:schemeClr val="bg2">
                    <a:lumMod val="50000"/>
                  </a:schemeClr>
                </a:solidFill>
                <a:latin typeface="Bahnschrift" panose="020B0502040204020203" pitchFamily="34" charset="0"/>
              </a:rPr>
              <a:t>• Test fairness across demographics</a:t>
            </a:r>
          </a:p>
          <a:p>
            <a:pPr lvl="1">
              <a:defRPr sz="2400">
                <a:solidFill>
                  <a:srgbClr val="555555"/>
                </a:solidFill>
              </a:defRPr>
            </a:pPr>
            <a:r>
              <a:rPr sz="2400" dirty="0">
                <a:solidFill>
                  <a:schemeClr val="bg2">
                    <a:lumMod val="50000"/>
                  </a:schemeClr>
                </a:solidFill>
                <a:latin typeface="Bahnschrift" panose="020B0502040204020203" pitchFamily="34" charset="0"/>
              </a:rPr>
              <a:t>• Apply corrective bias mitigation methods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640080"/>
            <a:ext cx="2017604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82828"/>
                </a:solidFill>
              </a:defRPr>
            </a:pPr>
            <a:r>
              <a:rPr sz="4000" b="1" dirty="0">
                <a:solidFill>
                  <a:schemeClr val="accent2"/>
                </a:solidFill>
              </a:rPr>
              <a:t>4. Safety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6123792" cy="1477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lvl="1">
              <a:defRPr sz="2400">
                <a:solidFill>
                  <a:srgbClr val="555555"/>
                </a:solidFill>
              </a:defRPr>
            </a:pPr>
            <a:r>
              <a:rPr sz="2400" dirty="0">
                <a:solidFill>
                  <a:schemeClr val="bg2">
                    <a:lumMod val="50000"/>
                  </a:schemeClr>
                </a:solidFill>
                <a:latin typeface="Bahnschrift" panose="020B0502040204020203" pitchFamily="34" charset="0"/>
              </a:rPr>
              <a:t>• Prevent harmful outcomes or misuse</a:t>
            </a:r>
          </a:p>
          <a:p>
            <a:pPr lvl="1">
              <a:defRPr sz="2400">
                <a:solidFill>
                  <a:srgbClr val="555555"/>
                </a:solidFill>
              </a:defRPr>
            </a:pPr>
            <a:r>
              <a:rPr sz="2400" dirty="0">
                <a:solidFill>
                  <a:schemeClr val="bg2">
                    <a:lumMod val="50000"/>
                  </a:schemeClr>
                </a:solidFill>
                <a:latin typeface="Bahnschrift" panose="020B0502040204020203" pitchFamily="34" charset="0"/>
              </a:rPr>
              <a:t>• Implement fail-safe mechanisms</a:t>
            </a:r>
          </a:p>
          <a:p>
            <a:pPr lvl="1">
              <a:defRPr sz="2400">
                <a:solidFill>
                  <a:srgbClr val="555555"/>
                </a:solidFill>
              </a:defRPr>
            </a:pPr>
            <a:r>
              <a:rPr sz="2400" dirty="0">
                <a:solidFill>
                  <a:schemeClr val="bg2">
                    <a:lumMod val="50000"/>
                  </a:schemeClr>
                </a:solidFill>
                <a:latin typeface="Bahnschrift" panose="020B0502040204020203" pitchFamily="34" charset="0"/>
              </a:rPr>
              <a:t>• Conduct scenario-based safety testing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640080"/>
            <a:ext cx="2224199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82828"/>
                </a:solidFill>
              </a:defRPr>
            </a:pPr>
            <a:r>
              <a:rPr sz="4000" b="1" dirty="0">
                <a:solidFill>
                  <a:schemeClr val="accent2"/>
                </a:solidFill>
              </a:rPr>
              <a:t>5. Privacy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5211683" cy="1477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lvl="1">
              <a:defRPr sz="2400">
                <a:solidFill>
                  <a:srgbClr val="555555"/>
                </a:solidFill>
              </a:defRPr>
            </a:pPr>
            <a:r>
              <a:rPr sz="2400" dirty="0">
                <a:solidFill>
                  <a:schemeClr val="bg2">
                    <a:lumMod val="50000"/>
                  </a:schemeClr>
                </a:solidFill>
                <a:latin typeface="Bahnschrift" panose="020B0502040204020203" pitchFamily="34" charset="0"/>
              </a:rPr>
              <a:t>• </a:t>
            </a:r>
            <a:r>
              <a:rPr sz="2400" dirty="0" err="1">
                <a:solidFill>
                  <a:schemeClr val="bg2">
                    <a:lumMod val="50000"/>
                  </a:schemeClr>
                </a:solidFill>
                <a:latin typeface="Bahnschrift" panose="020B0502040204020203" pitchFamily="34" charset="0"/>
              </a:rPr>
              <a:t>Minimise</a:t>
            </a:r>
            <a:r>
              <a:rPr sz="2400" dirty="0">
                <a:solidFill>
                  <a:schemeClr val="bg2">
                    <a:lumMod val="50000"/>
                  </a:schemeClr>
                </a:solidFill>
                <a:latin typeface="Bahnschrift" panose="020B0502040204020203" pitchFamily="34" charset="0"/>
              </a:rPr>
              <a:t> personal data used</a:t>
            </a:r>
          </a:p>
          <a:p>
            <a:pPr lvl="1">
              <a:defRPr sz="2400">
                <a:solidFill>
                  <a:srgbClr val="555555"/>
                </a:solidFill>
              </a:defRPr>
            </a:pPr>
            <a:r>
              <a:rPr sz="2400" dirty="0">
                <a:solidFill>
                  <a:schemeClr val="bg2">
                    <a:lumMod val="50000"/>
                  </a:schemeClr>
                </a:solidFill>
                <a:latin typeface="Bahnschrift" panose="020B0502040204020203" pitchFamily="34" charset="0"/>
              </a:rPr>
              <a:t>• Protect sensitive attributes</a:t>
            </a:r>
          </a:p>
          <a:p>
            <a:pPr lvl="1">
              <a:defRPr sz="2400">
                <a:solidFill>
                  <a:srgbClr val="555555"/>
                </a:solidFill>
              </a:defRPr>
            </a:pPr>
            <a:r>
              <a:rPr sz="2400" dirty="0">
                <a:solidFill>
                  <a:schemeClr val="bg2">
                    <a:lumMod val="50000"/>
                  </a:schemeClr>
                </a:solidFill>
                <a:latin typeface="Bahnschrift" panose="020B0502040204020203" pitchFamily="34" charset="0"/>
              </a:rPr>
              <a:t>• Ensure PDPA/GDPR compliance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640080"/>
            <a:ext cx="2417650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82828"/>
                </a:solidFill>
              </a:defRPr>
            </a:pPr>
            <a:r>
              <a:rPr sz="4000" b="1" dirty="0">
                <a:solidFill>
                  <a:schemeClr val="accent2"/>
                </a:solidFill>
              </a:rPr>
              <a:t>6.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6978192" cy="1477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lvl="1">
              <a:defRPr sz="2400">
                <a:solidFill>
                  <a:srgbClr val="555555"/>
                </a:solidFill>
              </a:defRPr>
            </a:pPr>
            <a:r>
              <a:rPr sz="2400" dirty="0">
                <a:solidFill>
                  <a:schemeClr val="bg2">
                    <a:lumMod val="50000"/>
                  </a:schemeClr>
                </a:solidFill>
                <a:latin typeface="Bahnschrift" panose="020B0502040204020203" pitchFamily="34" charset="0"/>
              </a:rPr>
              <a:t>• Protect against adversarial attacks</a:t>
            </a:r>
          </a:p>
          <a:p>
            <a:pPr lvl="1">
              <a:defRPr sz="2400">
                <a:solidFill>
                  <a:srgbClr val="555555"/>
                </a:solidFill>
              </a:defRPr>
            </a:pPr>
            <a:r>
              <a:rPr sz="2400" dirty="0">
                <a:solidFill>
                  <a:schemeClr val="bg2">
                    <a:lumMod val="50000"/>
                  </a:schemeClr>
                </a:solidFill>
                <a:latin typeface="Bahnschrift" panose="020B0502040204020203" pitchFamily="34" charset="0"/>
              </a:rPr>
              <a:t>• Apply MITRE ATLAS threat controls</a:t>
            </a:r>
          </a:p>
          <a:p>
            <a:pPr lvl="1">
              <a:defRPr sz="2400">
                <a:solidFill>
                  <a:srgbClr val="555555"/>
                </a:solidFill>
              </a:defRPr>
            </a:pPr>
            <a:r>
              <a:rPr sz="2400" dirty="0">
                <a:solidFill>
                  <a:schemeClr val="bg2">
                    <a:lumMod val="50000"/>
                  </a:schemeClr>
                </a:solidFill>
                <a:latin typeface="Bahnschrift" panose="020B0502040204020203" pitchFamily="34" charset="0"/>
              </a:rPr>
              <a:t>• Monitor for abnormal or malicious </a:t>
            </a:r>
            <a:r>
              <a:rPr sz="2400" dirty="0" err="1">
                <a:solidFill>
                  <a:schemeClr val="bg2">
                    <a:lumMod val="50000"/>
                  </a:schemeClr>
                </a:solidFill>
                <a:latin typeface="Bahnschrift" panose="020B0502040204020203" pitchFamily="34" charset="0"/>
              </a:rPr>
              <a:t>behaviour</a:t>
            </a:r>
            <a:endParaRPr sz="2400" dirty="0">
              <a:solidFill>
                <a:schemeClr val="bg2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640080"/>
            <a:ext cx="4399218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82828"/>
                </a:solidFill>
              </a:defRPr>
            </a:pPr>
            <a:r>
              <a:rPr sz="4000" b="1" dirty="0">
                <a:solidFill>
                  <a:schemeClr val="accent2"/>
                </a:solidFill>
              </a:rPr>
              <a:t>7. Human Oversight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6668813" cy="1477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lvl="1">
              <a:defRPr sz="2400">
                <a:solidFill>
                  <a:srgbClr val="555555"/>
                </a:solidFill>
              </a:defRPr>
            </a:pPr>
            <a:r>
              <a:rPr sz="2400" dirty="0">
                <a:solidFill>
                  <a:schemeClr val="bg2">
                    <a:lumMod val="50000"/>
                  </a:schemeClr>
                </a:solidFill>
                <a:latin typeface="Bahnschrift" panose="020B0502040204020203" pitchFamily="34" charset="0"/>
              </a:rPr>
              <a:t>• Enable human review for critical decisions</a:t>
            </a:r>
          </a:p>
          <a:p>
            <a:pPr lvl="1">
              <a:defRPr sz="2400">
                <a:solidFill>
                  <a:srgbClr val="555555"/>
                </a:solidFill>
              </a:defRPr>
            </a:pPr>
            <a:r>
              <a:rPr sz="2400" dirty="0">
                <a:solidFill>
                  <a:schemeClr val="bg2">
                    <a:lumMod val="50000"/>
                  </a:schemeClr>
                </a:solidFill>
                <a:latin typeface="Bahnschrift" panose="020B0502040204020203" pitchFamily="34" charset="0"/>
              </a:rPr>
              <a:t>• Define HITL/HOTL checkpoints</a:t>
            </a:r>
          </a:p>
          <a:p>
            <a:pPr lvl="1">
              <a:defRPr sz="2400">
                <a:solidFill>
                  <a:srgbClr val="555555"/>
                </a:solidFill>
              </a:defRPr>
            </a:pPr>
            <a:r>
              <a:rPr sz="2400" dirty="0">
                <a:solidFill>
                  <a:schemeClr val="bg2">
                    <a:lumMod val="50000"/>
                  </a:schemeClr>
                </a:solidFill>
                <a:latin typeface="Bahnschrift" panose="020B0502040204020203" pitchFamily="34" charset="0"/>
              </a:rPr>
              <a:t>• Ensure humans have override authority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640080"/>
            <a:ext cx="5838586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82828"/>
                </a:solidFill>
              </a:defRPr>
            </a:pPr>
            <a:r>
              <a:rPr sz="4000" b="1" dirty="0">
                <a:solidFill>
                  <a:schemeClr val="accent2"/>
                </a:solidFill>
              </a:rPr>
              <a:t>8. Reliability &amp; Robustness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072770" cy="1477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lvl="1">
              <a:defRPr sz="2400">
                <a:solidFill>
                  <a:srgbClr val="555555"/>
                </a:solidFill>
              </a:defRPr>
            </a:pPr>
            <a:r>
              <a:rPr sz="2400" dirty="0">
                <a:solidFill>
                  <a:schemeClr val="bg2">
                    <a:lumMod val="50000"/>
                  </a:schemeClr>
                </a:solidFill>
                <a:latin typeface="Bahnschrift" panose="020B0502040204020203" pitchFamily="34" charset="0"/>
              </a:rPr>
              <a:t>• Ensure consistent performance</a:t>
            </a:r>
          </a:p>
          <a:p>
            <a:pPr lvl="1">
              <a:defRPr sz="2400">
                <a:solidFill>
                  <a:srgbClr val="555555"/>
                </a:solidFill>
              </a:defRPr>
            </a:pPr>
            <a:r>
              <a:rPr sz="2400" dirty="0">
                <a:solidFill>
                  <a:schemeClr val="bg2">
                    <a:lumMod val="50000"/>
                  </a:schemeClr>
                </a:solidFill>
                <a:latin typeface="Bahnschrift" panose="020B0502040204020203" pitchFamily="34" charset="0"/>
              </a:rPr>
              <a:t>• Stress-test models under realistic conditions</a:t>
            </a:r>
          </a:p>
          <a:p>
            <a:pPr lvl="1">
              <a:defRPr sz="2400">
                <a:solidFill>
                  <a:srgbClr val="555555"/>
                </a:solidFill>
              </a:defRPr>
            </a:pPr>
            <a:r>
              <a:rPr sz="2400" dirty="0">
                <a:solidFill>
                  <a:schemeClr val="bg2">
                    <a:lumMod val="50000"/>
                  </a:schemeClr>
                </a:solidFill>
                <a:latin typeface="Bahnschrift" panose="020B0502040204020203" pitchFamily="34" charset="0"/>
              </a:rPr>
              <a:t>• Implement drift detection mechanisms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640080"/>
            <a:ext cx="3024289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82828"/>
                </a:solidFill>
              </a:defRPr>
            </a:pPr>
            <a:r>
              <a:rPr sz="4000" b="1" dirty="0">
                <a:solidFill>
                  <a:schemeClr val="accent2"/>
                </a:solidFill>
              </a:rPr>
              <a:t>9. Ethical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6955750" cy="1477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lvl="1">
              <a:defRPr sz="2400">
                <a:solidFill>
                  <a:srgbClr val="555555"/>
                </a:solidFill>
              </a:defRPr>
            </a:pPr>
            <a:r>
              <a:rPr sz="2400" dirty="0">
                <a:solidFill>
                  <a:schemeClr val="bg2">
                    <a:lumMod val="50000"/>
                  </a:schemeClr>
                </a:solidFill>
                <a:latin typeface="Bahnschrift" panose="020B0502040204020203" pitchFamily="34" charset="0"/>
              </a:rPr>
              <a:t>• Ensure alignment with </a:t>
            </a:r>
            <a:r>
              <a:rPr sz="2400" dirty="0" err="1">
                <a:solidFill>
                  <a:schemeClr val="bg2">
                    <a:lumMod val="50000"/>
                  </a:schemeClr>
                </a:solidFill>
                <a:latin typeface="Bahnschrift" panose="020B0502040204020203" pitchFamily="34" charset="0"/>
              </a:rPr>
              <a:t>organisational</a:t>
            </a:r>
            <a:r>
              <a:rPr sz="2400" dirty="0">
                <a:solidFill>
                  <a:schemeClr val="bg2">
                    <a:lumMod val="50000"/>
                  </a:schemeClr>
                </a:solidFill>
                <a:latin typeface="Bahnschrift" panose="020B0502040204020203" pitchFamily="34" charset="0"/>
              </a:rPr>
              <a:t> values</a:t>
            </a:r>
          </a:p>
          <a:p>
            <a:pPr lvl="1">
              <a:defRPr sz="2400">
                <a:solidFill>
                  <a:srgbClr val="555555"/>
                </a:solidFill>
              </a:defRPr>
            </a:pPr>
            <a:r>
              <a:rPr sz="2400" dirty="0">
                <a:solidFill>
                  <a:schemeClr val="bg2">
                    <a:lumMod val="50000"/>
                  </a:schemeClr>
                </a:solidFill>
                <a:latin typeface="Bahnschrift" panose="020B0502040204020203" pitchFamily="34" charset="0"/>
              </a:rPr>
              <a:t>• Evaluate wider societal impact</a:t>
            </a:r>
          </a:p>
          <a:p>
            <a:pPr lvl="1">
              <a:defRPr sz="2400">
                <a:solidFill>
                  <a:srgbClr val="555555"/>
                </a:solidFill>
              </a:defRPr>
            </a:pPr>
            <a:r>
              <a:rPr sz="2400" dirty="0">
                <a:solidFill>
                  <a:schemeClr val="bg2">
                    <a:lumMod val="50000"/>
                  </a:schemeClr>
                </a:solidFill>
                <a:latin typeface="Bahnschrift" panose="020B0502040204020203" pitchFamily="34" charset="0"/>
              </a:rPr>
              <a:t>• Avoid manipulative, harmful, or deceptive AI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640080"/>
            <a:ext cx="5905656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82828"/>
                </a:solidFill>
              </a:defRPr>
            </a:pPr>
            <a:r>
              <a:rPr sz="4000" b="1" dirty="0">
                <a:solidFill>
                  <a:schemeClr val="accent2"/>
                </a:solidFill>
              </a:rPr>
              <a:t>10. Continuous Monitoring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6638356" cy="1477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lvl="1">
              <a:defRPr sz="2400">
                <a:solidFill>
                  <a:srgbClr val="555555"/>
                </a:solidFill>
              </a:defRPr>
            </a:pPr>
            <a:r>
              <a:rPr sz="2400" dirty="0">
                <a:solidFill>
                  <a:schemeClr val="bg2">
                    <a:lumMod val="50000"/>
                  </a:schemeClr>
                </a:solidFill>
                <a:latin typeface="Bahnschrift" panose="020B0502040204020203" pitchFamily="34" charset="0"/>
              </a:rPr>
              <a:t>• Track ongoing accuracy and fairness</a:t>
            </a:r>
          </a:p>
          <a:p>
            <a:pPr lvl="1">
              <a:defRPr sz="2400">
                <a:solidFill>
                  <a:srgbClr val="555555"/>
                </a:solidFill>
              </a:defRPr>
            </a:pPr>
            <a:r>
              <a:rPr sz="2400" dirty="0">
                <a:solidFill>
                  <a:schemeClr val="bg2">
                    <a:lumMod val="50000"/>
                  </a:schemeClr>
                </a:solidFill>
                <a:latin typeface="Bahnschrift" panose="020B0502040204020203" pitchFamily="34" charset="0"/>
              </a:rPr>
              <a:t>• Detect incidents, hallucinations, or drift</a:t>
            </a:r>
          </a:p>
          <a:p>
            <a:pPr lvl="1">
              <a:defRPr sz="2400">
                <a:solidFill>
                  <a:srgbClr val="555555"/>
                </a:solidFill>
              </a:defRPr>
            </a:pPr>
            <a:r>
              <a:rPr sz="2400" dirty="0">
                <a:solidFill>
                  <a:schemeClr val="bg2">
                    <a:lumMod val="50000"/>
                  </a:schemeClr>
                </a:solidFill>
                <a:latin typeface="Bahnschrift" panose="020B0502040204020203" pitchFamily="34" charset="0"/>
              </a:rPr>
              <a:t>• Maintain real-time monitoring dashboards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640080"/>
            <a:ext cx="4269054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82828"/>
                </a:solidFill>
              </a:defRPr>
            </a:pPr>
            <a:r>
              <a:rPr sz="4000" b="1" dirty="0">
                <a:solidFill>
                  <a:schemeClr val="accent2"/>
                </a:solidFill>
              </a:rPr>
              <a:t>11. Documentation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520007" cy="1477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lvl="1">
              <a:defRPr sz="2400">
                <a:solidFill>
                  <a:srgbClr val="555555"/>
                </a:solidFill>
              </a:defRPr>
            </a:pPr>
            <a:r>
              <a:rPr sz="2400" dirty="0">
                <a:solidFill>
                  <a:schemeClr val="bg2">
                    <a:lumMod val="50000"/>
                  </a:schemeClr>
                </a:solidFill>
                <a:latin typeface="Bahnschrift" panose="020B0502040204020203" pitchFamily="34" charset="0"/>
              </a:rPr>
              <a:t>• Maintain all lifecycle documentation</a:t>
            </a:r>
          </a:p>
          <a:p>
            <a:pPr lvl="1">
              <a:defRPr sz="2400">
                <a:solidFill>
                  <a:srgbClr val="555555"/>
                </a:solidFill>
              </a:defRPr>
            </a:pPr>
            <a:r>
              <a:rPr sz="2400" dirty="0">
                <a:solidFill>
                  <a:schemeClr val="bg2">
                    <a:lumMod val="50000"/>
                  </a:schemeClr>
                </a:solidFill>
                <a:latin typeface="Bahnschrift" panose="020B0502040204020203" pitchFamily="34" charset="0"/>
              </a:rPr>
              <a:t>• Use Model Cards, Data Cards, Risk Assessments</a:t>
            </a:r>
          </a:p>
          <a:p>
            <a:pPr lvl="1">
              <a:defRPr sz="2400">
                <a:solidFill>
                  <a:srgbClr val="555555"/>
                </a:solidFill>
              </a:defRPr>
            </a:pPr>
            <a:r>
              <a:rPr sz="2400" dirty="0">
                <a:solidFill>
                  <a:schemeClr val="bg2">
                    <a:lumMod val="50000"/>
                  </a:schemeClr>
                </a:solidFill>
                <a:latin typeface="Bahnschrift" panose="020B0502040204020203" pitchFamily="34" charset="0"/>
              </a:rPr>
              <a:t>• Support governance, audits, and compliance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640080"/>
            <a:ext cx="6331157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82828"/>
                </a:solidFill>
              </a:defRPr>
            </a:pPr>
            <a:r>
              <a:rPr sz="4000" b="1" dirty="0">
                <a:solidFill>
                  <a:schemeClr val="accent2"/>
                </a:solidFill>
              </a:rPr>
              <a:t>12. Compliance &amp; Regulation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6096541" cy="1477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lvl="1">
              <a:defRPr sz="2400">
                <a:solidFill>
                  <a:srgbClr val="555555"/>
                </a:solidFill>
              </a:defRPr>
            </a:pPr>
            <a:r>
              <a:rPr sz="2400" dirty="0">
                <a:solidFill>
                  <a:schemeClr val="bg2">
                    <a:lumMod val="50000"/>
                  </a:schemeClr>
                </a:solidFill>
                <a:latin typeface="Bahnschrift" panose="020B0502040204020203" pitchFamily="34" charset="0"/>
              </a:rPr>
              <a:t>• Align with ISO 42001 &amp; NIST AI RMF</a:t>
            </a:r>
          </a:p>
          <a:p>
            <a:pPr lvl="1">
              <a:defRPr sz="2400">
                <a:solidFill>
                  <a:srgbClr val="555555"/>
                </a:solidFill>
              </a:defRPr>
            </a:pPr>
            <a:r>
              <a:rPr sz="2400" dirty="0">
                <a:solidFill>
                  <a:schemeClr val="bg2">
                    <a:lumMod val="50000"/>
                  </a:schemeClr>
                </a:solidFill>
                <a:latin typeface="Bahnschrift" panose="020B0502040204020203" pitchFamily="34" charset="0"/>
              </a:rPr>
              <a:t>• Follow OECD trustworthy AI principles</a:t>
            </a:r>
          </a:p>
          <a:p>
            <a:pPr lvl="1">
              <a:defRPr sz="2400">
                <a:solidFill>
                  <a:srgbClr val="555555"/>
                </a:solidFill>
              </a:defRPr>
            </a:pPr>
            <a:r>
              <a:rPr sz="2400" dirty="0">
                <a:solidFill>
                  <a:schemeClr val="bg2">
                    <a:lumMod val="50000"/>
                  </a:schemeClr>
                </a:solidFill>
                <a:latin typeface="Bahnschrift" panose="020B0502040204020203" pitchFamily="34" charset="0"/>
              </a:rPr>
              <a:t>• Track emerging regulatory changes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B95098E-2D1D-7556-5491-8B81400CE072}"/>
              </a:ext>
            </a:extLst>
          </p:cNvPr>
          <p:cNvSpPr txBox="1"/>
          <p:nvPr/>
        </p:nvSpPr>
        <p:spPr>
          <a:xfrm>
            <a:off x="629265" y="1002890"/>
            <a:ext cx="8288593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4400" dirty="0">
              <a:solidFill>
                <a:schemeClr val="accent2"/>
              </a:solidFill>
              <a:latin typeface="Bahnschrift Condensed" panose="020B0502040204020203" pitchFamily="34" charset="0"/>
            </a:endParaRPr>
          </a:p>
          <a:p>
            <a:endParaRPr lang="en-IN" sz="4400" dirty="0">
              <a:solidFill>
                <a:schemeClr val="accent2"/>
              </a:solidFill>
              <a:latin typeface="Bahnschrift Condensed" panose="020B0502040204020203" pitchFamily="34" charset="0"/>
            </a:endParaRPr>
          </a:p>
          <a:p>
            <a:r>
              <a:rPr lang="en-IN" sz="4400" dirty="0">
                <a:solidFill>
                  <a:schemeClr val="accent2"/>
                </a:solidFill>
                <a:latin typeface="Bahnschrift Condensed" panose="020B0502040204020203" pitchFamily="34" charset="0"/>
              </a:rPr>
              <a:t>						Thank You</a:t>
            </a:r>
          </a:p>
          <a:p>
            <a:endParaRPr lang="en-IN" dirty="0"/>
          </a:p>
          <a:p>
            <a:r>
              <a:rPr lang="en-IN" sz="2800" b="1" dirty="0">
                <a:solidFill>
                  <a:schemeClr val="bg2">
                    <a:lumMod val="50000"/>
                  </a:schemeClr>
                </a:solidFill>
              </a:rPr>
              <a:t>					Sai Asritha Yaddala</a:t>
            </a:r>
          </a:p>
        </p:txBody>
      </p:sp>
    </p:spTree>
    <p:extLst>
      <p:ext uri="{BB962C8B-B14F-4D97-AF65-F5344CB8AC3E}">
        <p14:creationId xmlns:p14="http://schemas.microsoft.com/office/powerpoint/2010/main" val="105244135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8</TotalTime>
  <Words>285</Words>
  <Application>Microsoft Office PowerPoint</Application>
  <PresentationFormat>On-screen Show (4:3)</PresentationFormat>
  <Paragraphs>71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Bahnschrift</vt:lpstr>
      <vt:lpstr>Bahnschrift Condensed</vt:lpstr>
      <vt:lpstr>Calibri</vt:lpstr>
      <vt:lpstr>Calibri Light</vt:lpstr>
      <vt:lpstr>Retrospect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Asritha Reddy</cp:lastModifiedBy>
  <cp:revision>3</cp:revision>
  <dcterms:created xsi:type="dcterms:W3CDTF">2013-01-27T09:14:16Z</dcterms:created>
  <dcterms:modified xsi:type="dcterms:W3CDTF">2025-11-17T09:19:19Z</dcterms:modified>
  <cp:category/>
</cp:coreProperties>
</file>